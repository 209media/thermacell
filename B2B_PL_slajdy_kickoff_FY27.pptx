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panelu trwał od 19 marca. Klienci przyjęli kanał: 174 kont, 127 z zamówieniem, 422,4 tys. € sprzedaży, 91% budżetu rocznego (94% planu do dziś). 59% klientów wraca z drugim zamówieniem w ciągu 60 dni. Technicznie panel działał: rejestracja, rabaty, ceny netto, terminy płatności. Od przypisania klientów do KAM 12 czerwca przybyło 83 zamówień i 61,2 tys. 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Liczba zamówień to główna luka: 317 wobec 928 w planie. Trzy przyczyny: po pierwsze nie było procesu sprzedaży wokół panelu, KAM nie mieli ustalonego sposobu pracy ani narzędzi. Po drugie nie było procesu pozyskania nowych klientów, bez kampanii i budżetu baza rosła tylko z portfeli PH. Po trzecie polityka cenowa nie była gotowa: większość zamówień to deale spoza cennika, korygowane ręcznie w Sage, a klient widział w panelu inne kwoty niż na fakturze. Na FY27: proces sprzedaży, proces pozyskania, jeden cennik w panelu i program partnerski.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Jeden slajd zamiast angielskich slajdów o panelu B2B. Założenia z business case FY26: 166 klientów, 928 zamówień, 464 tys. €. Panel się przyjął: 174 kont, 91% budżetu sprzedaży (94% planu do dziś), 59% klientów wraca z drugim zamówieniem. Słabo z liczbą zamówień (317 = 34% celu): klienci zamawiają rzadko i dużo, bez kampanii, bez kontaktu w sezonie, a korekty cen w Sage nie wracały do panelu. Stąd 4 learningi na FY27.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Wynik na 25.09.2026: 91% budżetu sprzedaży (94% planu do dziś), 73% kont z zamówieniem, ale tylko 34% celu zamówień. Średnie zamówienie 2,7× plan, bo klienci zamawiają rzadko i dużo. 1 października startuje nowa platforma: ceny i rabaty od razu w koszyku, kredyt kupiecki, rabat za krótszy termin płatności, automatyczne maile i program partnerski. Cele FY27: 900 tys. €, 1 125 zamówień.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PANELU B2B FY26 – CO ZAGRAŁO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932688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sbm-partners.com, pierwsze zamówienie 19.03.2026 · wyniki narastająco na 25.09.2026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974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08C9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270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756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 na panelu = 105% założonej bazy (166)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417320"/>
            <a:ext cx="26974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08C9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5270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0756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klientów z zamówieniem = 73% kont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26974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08C9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15270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422,4 tys. €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0756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sprzedaży netto = 91% budżetu, 94% planu do dziś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52560" y="1417320"/>
            <a:ext cx="26974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08C9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5440" y="15270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20756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klientów wraca z 2. zamówieniem w ciągu 60 dni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2834640"/>
            <a:ext cx="3657600" cy="502920"/>
          </a:xfrm>
          <a:prstGeom prst="rect">
            <a:avLst/>
          </a:prstGeom>
          <a:solidFill>
            <a:srgbClr val="174769"/>
          </a:solidFill>
          <a:ln w="12700">
            <a:solidFill>
              <a:srgbClr val="174769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962656"/>
            <a:ext cx="246888" cy="246888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60120" y="2834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Klienci przyjęli panel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411480" y="3337560"/>
            <a:ext cx="365760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7476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4360" y="352044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Cała baza zarejestrowana, 174 kont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Część klientów zamawia sama, bez telefonu do PH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Klienci wracają: 59% składa 2. zamówienie w ciągu 60 dni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251960" y="2834640"/>
            <a:ext cx="3657600" cy="502920"/>
          </a:xfrm>
          <a:prstGeom prst="rect">
            <a:avLst/>
          </a:prstGeom>
          <a:solidFill>
            <a:srgbClr val="174769"/>
          </a:solidFill>
          <a:ln w="12700">
            <a:solidFill>
              <a:srgbClr val="174769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962656"/>
            <a:ext cx="246888" cy="246888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4800600" y="2834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i warunki działały</a:t>
            </a:r>
            <a:endParaRPr lang="en-US" sz="1700" dirty="0"/>
          </a:p>
        </p:txBody>
      </p:sp>
      <p:sp>
        <p:nvSpPr>
          <p:cNvPr id="24" name="Shape 20"/>
          <p:cNvSpPr/>
          <p:nvPr/>
        </p:nvSpPr>
        <p:spPr>
          <a:xfrm>
            <a:off x="4251960" y="3337560"/>
            <a:ext cx="365760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74769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434840" y="352044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Rejestracja, konta i grupy cenowe bez problemów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Ceny netto z indywidualnym rabatem w katalogu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Płatność 90 dni albo 7 dni z 2,5% rabatu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8092440" y="2834640"/>
            <a:ext cx="3657600" cy="502920"/>
          </a:xfrm>
          <a:prstGeom prst="rect">
            <a:avLst/>
          </a:prstGeom>
          <a:solidFill>
            <a:srgbClr val="174769"/>
          </a:solidFill>
          <a:ln w="12700">
            <a:solidFill>
              <a:srgbClr val="174769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2962656"/>
            <a:ext cx="246888" cy="246888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641080" y="2834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 i kontrola wyniku</a:t>
            </a:r>
            <a:endParaRPr lang="en-US" sz="1700" dirty="0"/>
          </a:p>
        </p:txBody>
      </p:sp>
      <p:sp>
        <p:nvSpPr>
          <p:cNvPr id="29" name="Shape 24"/>
          <p:cNvSpPr/>
          <p:nvPr/>
        </p:nvSpPr>
        <p:spPr>
          <a:xfrm>
            <a:off x="8092440" y="3337560"/>
            <a:ext cx="365760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74769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8275320" y="352044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12.06 klienci przypisani do KAM: +83 zamówień i 61,2 tys. €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Cotygodniowy raport KPI: wynik na tle BC co tydzień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 budżetu rocznego na tydzień przed końcem BC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411480" y="5349240"/>
            <a:ext cx="11338560" cy="914400"/>
          </a:xfrm>
          <a:prstGeom prst="rect">
            <a:avLst/>
          </a:prstGeom>
          <a:solidFill>
            <a:srgbClr val="174769"/>
          </a:solidFill>
          <a:ln w="12700">
            <a:solidFill>
              <a:srgbClr val="174769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685800" y="5349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A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WNIOSEK: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jako kanał się sprawdził, klienci go używają i wracają. W FY27 skalujemy: nowa platforma od 1.10, program partnerski i kampania B2B.</a:t>
            </a:r>
            <a:endParaRPr lang="en-US" sz="1500" dirty="0"/>
          </a:p>
        </p:txBody>
      </p:sp>
      <p:sp>
        <p:nvSpPr>
          <p:cNvPr id="33" name="Text 28"/>
          <p:cNvSpPr txBox="1"/>
          <p:nvPr/>
        </p:nvSpPr>
        <p:spPr>
          <a:xfrm>
            <a:off x="411480" y="644652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Dane: raport KPI B2B z 25.08.2026 (Sage ZORDDET, WEB-B2B) + nowe zamówienia z panelu 26.08–25.09.2026. Powroty: Sage ZORDDET 16.03–22.07.2026. Przyrost KAM: zakładka „Śledzenie”.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PANELU B2B FY26 – CO NIE ZAGRAŁO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932688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317 zamówień = 34% celu (928): klienci zamawiają rzadko, dużo i na żądanie, średnio 1 333 € zamiast 500 €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365760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0200"/>
            <a:ext cx="420624" cy="42062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52704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procesów sprzedażowych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2402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ustalonej pracy KAM z panelem: kiedy dzwonić, jak aktywować, jak podnosić częstotliwość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 bez narzędzi analitycznych i materiałów do rozmowy z klientem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kont bez zamówienia, nikt ich nie reaktywował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51960" y="1417320"/>
            <a:ext cx="365760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600200"/>
            <a:ext cx="420624" cy="42062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3484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152704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procesów pozyskania nowych klientów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22402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kampanii B2B i budżetu mediowego, nowe konta tylko z portfeli PH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bazy zgód marketingowych: nie było zachęty, żeby je zbierać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 urosła tylko o 8 kont ponad BC (166 → 174)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92440" y="1417320"/>
            <a:ext cx="365760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600200"/>
            <a:ext cx="420624" cy="42062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7532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823960" y="152704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Źle przygotowana polityka cenowa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2402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Większość zamówień to deale spoza cennika w panelu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Korekty cen ręcznie w Sage: duże obciążenie obsługi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Korekty nie wracały do panelu: klient widział inne kwoty niż na fakturze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4315968"/>
            <a:ext cx="11338560" cy="658368"/>
          </a:xfrm>
          <a:prstGeom prst="rect">
            <a:avLst/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43159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Dodatkowo:  </a:t>
            </a:r>
            <a:pPr indent="0" marL="0">
              <a:buNone/>
            </a:pPr>
            <a:r>
              <a:rPr lang="en-US" sz="13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kontaktu z klientem w sezonie (newsletter, SMS)  ·  brak programu lojalnościowego  ·  niewygodny panel  ·  brak śledzenia przesyłek  ·  brak wyników KPI na żywo w panelu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5120640"/>
            <a:ext cx="11338560" cy="1280160"/>
          </a:xfrm>
          <a:prstGeom prst="rect">
            <a:avLst/>
          </a:prstGeom>
          <a:solidFill>
            <a:srgbClr val="174769"/>
          </a:solidFill>
          <a:ln w="12700">
            <a:solidFill>
              <a:srgbClr val="17476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52303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A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WNIOSKI NA FY27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85800" y="5632704"/>
            <a:ext cx="347472" cy="347472"/>
          </a:xfrm>
          <a:prstGeom prst="ellipse">
            <a:avLst/>
          </a:prstGeom>
          <a:solidFill>
            <a:srgbClr val="F8AF2D"/>
          </a:solidFill>
          <a:ln w="12700">
            <a:solidFill>
              <a:srgbClr val="F8AF2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5632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4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24712" y="557784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 sprzedaży B2B: rola KAM w panelu, cele aktywacji i częstotliwości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429000" y="5632704"/>
            <a:ext cx="347472" cy="347472"/>
          </a:xfrm>
          <a:prstGeom prst="ellipse">
            <a:avLst/>
          </a:prstGeom>
          <a:solidFill>
            <a:srgbClr val="F8AF2D"/>
          </a:solidFill>
          <a:ln w="12700">
            <a:solidFill>
              <a:srgbClr val="F8AF2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29000" y="5632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4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867912" y="557784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 pozyskania: kampania B2B, cold mailing, budżet mediowy, zgody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72200" y="5632704"/>
            <a:ext cx="347472" cy="347472"/>
          </a:xfrm>
          <a:prstGeom prst="ellipse">
            <a:avLst/>
          </a:prstGeom>
          <a:solidFill>
            <a:srgbClr val="F8AF2D"/>
          </a:solidFill>
          <a:ln w="12700">
            <a:solidFill>
              <a:srgbClr val="F8AF2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72200" y="5632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4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611112" y="557784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cennik w panelu: deale jako rabaty w koszyku, import z Sage codziennie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915400" y="5632704"/>
            <a:ext cx="347472" cy="347472"/>
          </a:xfrm>
          <a:prstGeom prst="ellipse">
            <a:avLst/>
          </a:prstGeom>
          <a:solidFill>
            <a:srgbClr val="F8AF2D"/>
          </a:solidFill>
          <a:ln w="12700">
            <a:solidFill>
              <a:srgbClr val="F8AF2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915400" y="5632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4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354312" y="557784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partnerski i stały kontakt z klientem w sezonie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411480" y="644652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Dane: raport KPI B2B z 25.08.2026 (Sage ZORDDET, WEB-B2B) + nowe zamówienia z panelu 26.08–25.09.2026; podsumowanie testu panelu B2B, lipiec 2026.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0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PL – PODSUMOWANIE FY26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11480" y="1188720"/>
            <a:ext cx="2697480" cy="457200"/>
          </a:xfrm>
          <a:prstGeom prst="rect">
            <a:avLst/>
          </a:prstGeom>
          <a:solidFill>
            <a:srgbClr val="174769"/>
          </a:solidFill>
          <a:ln w="12700">
            <a:solidFill>
              <a:srgbClr val="17476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307592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86968" y="1188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Założenia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11480" y="1737360"/>
            <a:ext cx="2697480" cy="2880360"/>
          </a:xfrm>
          <a:prstGeom prst="rect">
            <a:avLst/>
          </a:prstGeom>
          <a:solidFill>
            <a:srgbClr val="FFFFFF"/>
          </a:solidFill>
          <a:ln w="15875">
            <a:solidFill>
              <a:srgbClr val="17476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874520"/>
            <a:ext cx="244144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Własny kanał zamówień dla sklepów i hurtu: panel sbm-partners.com, 1. zamówienie 19.03.2026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FY26: 166 klientów, 464 tys. €, 928 zamówień, średnio 500 €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291840" y="1188720"/>
            <a:ext cx="2697480" cy="457200"/>
          </a:xfrm>
          <a:prstGeom prst="rect">
            <a:avLst/>
          </a:prstGeom>
          <a:solidFill>
            <a:srgbClr val="174769"/>
          </a:solidFill>
          <a:ln w="12700">
            <a:solidFill>
              <a:srgbClr val="174769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30759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767328" y="1188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to zrobiliśmy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3291840" y="1737360"/>
            <a:ext cx="2697480" cy="2880360"/>
          </a:xfrm>
          <a:prstGeom prst="rect">
            <a:avLst/>
          </a:prstGeom>
          <a:solidFill>
            <a:srgbClr val="FFFFFF"/>
          </a:solidFill>
          <a:ln w="15875">
            <a:solidFill>
              <a:srgbClr val="174769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429000" y="1874520"/>
            <a:ext cx="244144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Cała baza na panelu: rejestracja, konta, grupy cenowe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Ceny netto z rabatem klienta; płatność 90 dni lub 7 dni z 2,5% rabatu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12.06 klienci przypisani do KAM + cotygodniowy raport KPI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172200" y="1188720"/>
            <a:ext cx="2697480" cy="457200"/>
          </a:xfrm>
          <a:prstGeom prst="rect">
            <a:avLst/>
          </a:prstGeom>
          <a:solidFill>
            <a:srgbClr val="174769"/>
          </a:solidFill>
          <a:ln w="12700">
            <a:solidFill>
              <a:srgbClr val="174769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30759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647688" y="1188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zadziałało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6172200" y="1737360"/>
            <a:ext cx="2697480" cy="2880360"/>
          </a:xfrm>
          <a:prstGeom prst="rect">
            <a:avLst/>
          </a:prstGeom>
          <a:solidFill>
            <a:srgbClr val="FFFFFF"/>
          </a:solidFill>
          <a:ln w="15875">
            <a:solidFill>
              <a:srgbClr val="174769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309360" y="1874520"/>
            <a:ext cx="244144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 kont (105% bazy), 127 z zamówieniem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422,4 tys. € = 91% budżetu, 94% planu do dziś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 klientów wraca z 2. zamówieniem w ciągu 60 dni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Część klientów zamawia sama, bez telefonu do PH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9052560" y="1188720"/>
            <a:ext cx="2697480" cy="457200"/>
          </a:xfrm>
          <a:prstGeom prst="rect">
            <a:avLst/>
          </a:prstGeom>
          <a:solidFill>
            <a:srgbClr val="174769"/>
          </a:solidFill>
          <a:ln w="12700">
            <a:solidFill>
              <a:srgbClr val="174769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7152" y="1307592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528048" y="1188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nie zadziałało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9052560" y="1737360"/>
            <a:ext cx="2697480" cy="2880360"/>
          </a:xfrm>
          <a:prstGeom prst="rect">
            <a:avLst/>
          </a:prstGeom>
          <a:solidFill>
            <a:srgbClr val="FFFFFF"/>
          </a:solidFill>
          <a:ln w="15875">
            <a:solidFill>
              <a:srgbClr val="174769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89720" y="1874520"/>
            <a:ext cx="244144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317 zamówień = 34% celu: rzadkie, duże zamówienia „na stock”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kampanii B2B i kontaktu w sezonie (newsletter, SMS)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Korekty cen ręcznie w Sage: klient widzi inne kwoty niż na fakturze, brak śledzenia przesyłek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programu lojalnościowego, niewygodny panel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411480" y="4800600"/>
            <a:ext cx="11338560" cy="1691640"/>
          </a:xfrm>
          <a:prstGeom prst="rect">
            <a:avLst/>
          </a:prstGeom>
          <a:solidFill>
            <a:srgbClr val="174769"/>
          </a:solidFill>
          <a:ln w="12700">
            <a:solidFill>
              <a:srgbClr val="174769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85800" y="4937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A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LEARNINGI NA FY27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85800" y="5422392"/>
            <a:ext cx="384048" cy="384048"/>
          </a:xfrm>
          <a:prstGeom prst="ellipse">
            <a:avLst/>
          </a:prstGeom>
          <a:solidFill>
            <a:srgbClr val="F8AF2D"/>
          </a:solidFill>
          <a:ln w="12700">
            <a:solidFill>
              <a:srgbClr val="F8AF2D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685800" y="5422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4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1161288" y="5330952"/>
            <a:ext cx="212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Kampania B2B i budżet mediowy, nie tylko pozyskanie przez PH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3447288" y="5422392"/>
            <a:ext cx="384048" cy="384048"/>
          </a:xfrm>
          <a:prstGeom prst="ellipse">
            <a:avLst/>
          </a:prstGeom>
          <a:solidFill>
            <a:srgbClr val="F8AF2D"/>
          </a:solidFill>
          <a:ln w="12700">
            <a:solidFill>
              <a:srgbClr val="F8AF2D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3447288" y="5422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4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3922776" y="5330952"/>
            <a:ext cx="212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partnerski: punkty za zgody marketingowe i częstsze zamówienia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6208776" y="5422392"/>
            <a:ext cx="384048" cy="384048"/>
          </a:xfrm>
          <a:prstGeom prst="ellipse">
            <a:avLst/>
          </a:prstGeom>
          <a:solidFill>
            <a:srgbClr val="F8AF2D"/>
          </a:solidFill>
          <a:ln w="12700">
            <a:solidFill>
              <a:srgbClr val="F8AF2D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6208776" y="5422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4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3" name="Text 27"/>
          <p:cNvSpPr txBox="1"/>
          <p:nvPr/>
        </p:nvSpPr>
        <p:spPr>
          <a:xfrm>
            <a:off x="6684264" y="5330952"/>
            <a:ext cx="212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Prostszy panel + codzienny import z Sage: kwoty jak na fakturze, nr listu przewozowego</a:t>
            </a:r>
            <a:endParaRPr lang="en-US" sz="1250" dirty="0"/>
          </a:p>
        </p:txBody>
      </p:sp>
      <p:sp>
        <p:nvSpPr>
          <p:cNvPr id="34" name="Shape 28"/>
          <p:cNvSpPr/>
          <p:nvPr/>
        </p:nvSpPr>
        <p:spPr>
          <a:xfrm>
            <a:off x="8970264" y="5422392"/>
            <a:ext cx="384048" cy="384048"/>
          </a:xfrm>
          <a:prstGeom prst="ellipse">
            <a:avLst/>
          </a:prstGeom>
          <a:solidFill>
            <a:srgbClr val="F8AF2D"/>
          </a:solidFill>
          <a:ln w="12700">
            <a:solidFill>
              <a:srgbClr val="F8AF2D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8970264" y="5422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4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6" name="Text 30"/>
          <p:cNvSpPr txBox="1"/>
          <p:nvPr/>
        </p:nvSpPr>
        <p:spPr>
          <a:xfrm>
            <a:off x="9445752" y="5330952"/>
            <a:ext cx="212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Liczymy konta, które zamawiają, i częstotliwość, nie rejestracje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0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PL – WYNIK I START FY27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1143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4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 FY26 vs budżet · stan na 25.09.2026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6459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74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422 418 €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215798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Sprzedaż netto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1901952"/>
            <a:ext cx="2743200" cy="237744"/>
          </a:xfrm>
          <a:prstGeom prst="roundRect">
            <a:avLst>
              <a:gd name="adj" fmla="val 50000"/>
            </a:avLst>
          </a:prstGeom>
          <a:solidFill>
            <a:srgbClr val="E3ECEC"/>
          </a:solidFill>
          <a:ln w="12700">
            <a:solidFill>
              <a:srgbClr val="E3EC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1901952"/>
            <a:ext cx="2497364" cy="237744"/>
          </a:xfrm>
          <a:prstGeom prst="roundRect">
            <a:avLst>
              <a:gd name="adj" fmla="val 50000"/>
            </a:avLst>
          </a:prstGeom>
          <a:solidFill>
            <a:srgbClr val="0E8B95"/>
          </a:solidFill>
          <a:ln w="12700">
            <a:solidFill>
              <a:srgbClr val="0E8B9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35040" y="182880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21762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budżet 464 000 € · 94% planu do dziś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11480" y="25603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74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 / 174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11480" y="307238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Klienci z zamówieniem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2816352"/>
            <a:ext cx="2743200" cy="237744"/>
          </a:xfrm>
          <a:prstGeom prst="roundRect">
            <a:avLst>
              <a:gd name="adj" fmla="val 50000"/>
            </a:avLst>
          </a:prstGeom>
          <a:solidFill>
            <a:srgbClr val="E3ECEC"/>
          </a:solidFill>
          <a:ln w="12700">
            <a:solidFill>
              <a:srgbClr val="E3EC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2816352"/>
            <a:ext cx="2002221" cy="237744"/>
          </a:xfrm>
          <a:prstGeom prst="roundRect">
            <a:avLst>
              <a:gd name="adj" fmla="val 50000"/>
            </a:avLst>
          </a:prstGeom>
          <a:solidFill>
            <a:srgbClr val="0E8B95"/>
          </a:solidFill>
          <a:ln w="12700">
            <a:solidFill>
              <a:srgbClr val="0E8B9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35040" y="274320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200400" y="30906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kont bez zamówienia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34747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74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317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398678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Zamówienia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0" y="3730752"/>
            <a:ext cx="2743200" cy="237744"/>
          </a:xfrm>
          <a:prstGeom prst="roundRect">
            <a:avLst>
              <a:gd name="adj" fmla="val 50000"/>
            </a:avLst>
          </a:prstGeom>
          <a:solidFill>
            <a:srgbClr val="E3ECEC"/>
          </a:solidFill>
          <a:ln w="12700">
            <a:solidFill>
              <a:srgbClr val="E3EC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3730752"/>
            <a:ext cx="937063" cy="23774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35040" y="365760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200400" y="40050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budżet 928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11480" y="43891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74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1 333 €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411480" y="490118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Średnia wartość zamówienia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0" y="4645152"/>
            <a:ext cx="2743200" cy="237744"/>
          </a:xfrm>
          <a:prstGeom prst="roundRect">
            <a:avLst>
              <a:gd name="adj" fmla="val 50000"/>
            </a:avLst>
          </a:prstGeom>
          <a:solidFill>
            <a:srgbClr val="E3ECEC"/>
          </a:solidFill>
          <a:ln w="12700">
            <a:solidFill>
              <a:srgbClr val="E3EC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4645152"/>
            <a:ext cx="2743200" cy="237744"/>
          </a:xfrm>
          <a:prstGeom prst="roundRect">
            <a:avLst>
              <a:gd name="adj" fmla="val 50000"/>
            </a:avLst>
          </a:prstGeom>
          <a:solidFill>
            <a:srgbClr val="F8AF2D"/>
          </a:solidFill>
          <a:ln w="12700">
            <a:solidFill>
              <a:srgbClr val="F8AF2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035040" y="457200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267%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200400" y="49194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500 € (2,7×)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11480" y="5440680"/>
            <a:ext cx="6355080" cy="777240"/>
          </a:xfrm>
          <a:prstGeom prst="rect">
            <a:avLst/>
          </a:prstGeom>
          <a:solidFill>
            <a:srgbClr val="DAEBEA"/>
          </a:solidFill>
          <a:ln w="12700">
            <a:solidFill>
              <a:srgbClr val="00676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544068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4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 FY27:  </a:t>
            </a:r>
            <a:pPr indent="0" marL="0">
              <a:buNone/>
            </a:pPr>
            <a:r>
              <a:rPr lang="en-US" sz="13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 tys. € · 1 125 zamówień · średnio 800 € · 350 nowych sklepów · 95% bazy aktywnej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086600" y="1143000"/>
            <a:ext cx="4663440" cy="5074920"/>
          </a:xfrm>
          <a:prstGeom prst="rect">
            <a:avLst/>
          </a:prstGeom>
          <a:solidFill>
            <a:srgbClr val="174769"/>
          </a:solidFill>
          <a:ln w="12700">
            <a:solidFill>
              <a:srgbClr val="17476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60920" y="13441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A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NOWA PLATFORMA B2B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7360920" y="17099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1.10.2026 · stary panel sbm-partners.com działa równolegle do 30.10</a:t>
            </a:r>
            <a:endParaRPr lang="en-US" sz="120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2359152"/>
            <a:ext cx="237744" cy="237744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7726680" y="23317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Ceny netto z rabatem klienta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D5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kwota w koszyku = kwota na fakturze</a:t>
            </a:r>
            <a:endParaRPr lang="en-US" sz="1400" dirty="0"/>
          </a:p>
        </p:txBody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3108960"/>
            <a:ext cx="237744" cy="237744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7726680" y="308152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Kredyt kupiecki z limitem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D5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 płatności w koszyku: krótszy = taniej</a:t>
            </a:r>
            <a:endParaRPr lang="en-US" sz="1400" dirty="0"/>
          </a:p>
        </p:txBody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3858768"/>
            <a:ext cx="237744" cy="237744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7726680" y="3831336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Zamówienie w 4 krokach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D5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katalog, ilość, płatność, data; także na telefonie</a:t>
            </a:r>
            <a:endParaRPr lang="en-US" sz="1400" dirty="0"/>
          </a:p>
        </p:txBody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4608576"/>
            <a:ext cx="237744" cy="237744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7726680" y="4581144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Automatyczne maile do klienta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D5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aktywacja konta, 1. zamówienie, potwierdzenia</a:t>
            </a:r>
            <a:endParaRPr lang="en-US" sz="1400" dirty="0"/>
          </a:p>
        </p:txBody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5358384"/>
            <a:ext cx="237744" cy="237744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7726680" y="533095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partnerski od 1.10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D5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wersja ręczna, silnik i integracja w Q4</a:t>
            </a:r>
            <a:endParaRPr lang="en-US" sz="1400" dirty="0"/>
          </a:p>
        </p:txBody>
      </p:sp>
      <p:sp>
        <p:nvSpPr>
          <p:cNvPr id="43" name="Text 36"/>
          <p:cNvSpPr txBox="1"/>
          <p:nvPr/>
        </p:nvSpPr>
        <p:spPr>
          <a:xfrm>
            <a:off x="411480" y="635508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Dane: raport KPI B2B z 25.08.2026 (Sage ZORDDET, WEB-B2B, narastająco) + nowe zamówienia z panelu sbm-partners.com 26.08–25.09.2026. 59% powrotów: Sage ZORDDET 16.03–22.07.2026.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B2B PL – test panelu FY26 i start FY27</dc:title>
  <dc:subject>PptxGenJS Presentation</dc:subject>
  <dc:creator>PptxGenJS</dc:creator>
  <cp:lastModifiedBy>PptxGenJS</cp:lastModifiedBy>
  <cp:revision>1</cp:revision>
  <dcterms:created xsi:type="dcterms:W3CDTF">2026-09-25T09:58:20Z</dcterms:created>
  <dcterms:modified xsi:type="dcterms:W3CDTF">2026-09-25T09:58:20Z</dcterms:modified>
</cp:coreProperties>
</file>