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Jeden slajd zamiast angielskich slajdów o panelu B2B. Założenia z business case FY26: 166 klientów, 928 zamówień, 464 tys. €. Panel się przyjął: 174 kont, 86% budżetu sprzedaży i przed planem do dziś, 59% klientów wraca z drugim zamówieniem. Słabo z liczbą zamówień (308 = 33% celu): klienci zamawiają rzadko i dużo, bez kampanii, bez kontaktu w sezonie, a korekty cen w Sage nie wracały do panelu. Stąd 4 learningi na FY27.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Wynik na 25.08.2026: 86% budżetu sprzedaży (105% planu do dziś), 73% kont z zamówieniem, ale tylko 33% celu zamówień. Średnie zamówienie 2,6× plan, bo klienci zamawiają rzadko i dużo. 1 października startuje nowa platforma: ceny i rabaty od razu w koszyku, kredyt kupiecki, rabat za krótszy termin płatności, automatyczne maile i program partnerski. Cele FY27: 900 tys. €, 1 125 zamówień.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08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PL – PODSUMOWANIE FY26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11480" y="1188720"/>
            <a:ext cx="2697480" cy="457200"/>
          </a:xfrm>
          <a:prstGeom prst="rect">
            <a:avLst/>
          </a:prstGeom>
          <a:solidFill>
            <a:srgbClr val="174769"/>
          </a:solidFill>
          <a:ln w="12700">
            <a:solidFill>
              <a:srgbClr val="174769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307592"/>
            <a:ext cx="219456" cy="21945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86968" y="11887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Założenia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11480" y="1737360"/>
            <a:ext cx="2697480" cy="2880360"/>
          </a:xfrm>
          <a:prstGeom prst="rect">
            <a:avLst/>
          </a:prstGeom>
          <a:solidFill>
            <a:srgbClr val="FFFFFF"/>
          </a:solidFill>
          <a:ln w="15875">
            <a:solidFill>
              <a:srgbClr val="17476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874520"/>
            <a:ext cx="244144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Własny kanał zamówień dla sklepów i hurtu: panel sbm-partners.com, 1. zamówienie 19.03.2026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 FY26: 166 klientów, 464 tys. €, 928 zamówień, średnio 500 €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291840" y="1188720"/>
            <a:ext cx="2697480" cy="457200"/>
          </a:xfrm>
          <a:prstGeom prst="rect">
            <a:avLst/>
          </a:prstGeom>
          <a:solidFill>
            <a:srgbClr val="174769"/>
          </a:solidFill>
          <a:ln w="12700">
            <a:solidFill>
              <a:srgbClr val="174769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6432" y="1307592"/>
            <a:ext cx="219456" cy="2194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767328" y="11887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to zrobiliśmy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3291840" y="1737360"/>
            <a:ext cx="2697480" cy="2880360"/>
          </a:xfrm>
          <a:prstGeom prst="rect">
            <a:avLst/>
          </a:prstGeom>
          <a:solidFill>
            <a:srgbClr val="FFFFFF"/>
          </a:solidFill>
          <a:ln w="15875">
            <a:solidFill>
              <a:srgbClr val="17476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429000" y="1874520"/>
            <a:ext cx="244144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Cała baza na panelu: rejestracja, konta, grupy cenowe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Ceny netto z rabatem klienta; płatność 90 dni lub 7 dni z 2,5% rabatu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 12.06 klienci przypisani do KAM + cotygodniowy raport KPI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172200" y="1188720"/>
            <a:ext cx="2697480" cy="457200"/>
          </a:xfrm>
          <a:prstGeom prst="rect">
            <a:avLst/>
          </a:prstGeom>
          <a:solidFill>
            <a:srgbClr val="174769"/>
          </a:solidFill>
          <a:ln w="12700">
            <a:solidFill>
              <a:srgbClr val="174769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307592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47688" y="11887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zadziałało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6172200" y="1737360"/>
            <a:ext cx="2697480" cy="2880360"/>
          </a:xfrm>
          <a:prstGeom prst="rect">
            <a:avLst/>
          </a:prstGeom>
          <a:solidFill>
            <a:srgbClr val="FFFFFF"/>
          </a:solidFill>
          <a:ln w="15875">
            <a:solidFill>
              <a:srgbClr val="174769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09360" y="1874520"/>
            <a:ext cx="244144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174 kont (105% bazy), 127 z zamówieniem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396,8 tys. € = 86% budżetu, 105% planu do dziś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 klientów wraca z 2. zamówieniem w ciągu 60 dni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Część klientów zamawia sama, bez telefonu do PH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9052560" y="1188720"/>
            <a:ext cx="2697480" cy="457200"/>
          </a:xfrm>
          <a:prstGeom prst="rect">
            <a:avLst/>
          </a:prstGeom>
          <a:solidFill>
            <a:srgbClr val="174769"/>
          </a:solidFill>
          <a:ln w="12700">
            <a:solidFill>
              <a:srgbClr val="174769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7152" y="1307592"/>
            <a:ext cx="219456" cy="21945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528048" y="11887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nie zadziałało</a:t>
            </a:r>
            <a:endParaRPr lang="en-US" sz="1600" dirty="0"/>
          </a:p>
        </p:txBody>
      </p:sp>
      <p:sp>
        <p:nvSpPr>
          <p:cNvPr id="21" name="Shape 15"/>
          <p:cNvSpPr/>
          <p:nvPr/>
        </p:nvSpPr>
        <p:spPr>
          <a:xfrm>
            <a:off x="9052560" y="1737360"/>
            <a:ext cx="2697480" cy="2880360"/>
          </a:xfrm>
          <a:prstGeom prst="rect">
            <a:avLst/>
          </a:prstGeom>
          <a:solidFill>
            <a:srgbClr val="FFFFFF"/>
          </a:solidFill>
          <a:ln w="15875">
            <a:solidFill>
              <a:srgbClr val="174769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9189720" y="1874520"/>
            <a:ext cx="244144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308 zamówień = 33% celu: rzadkie, duże zamówienia „na stock”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kampanii B2B i kontaktu w sezonie (newsletter, SMS)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Korekty cen ręcznie w Sage: klient widzi inne kwoty niż na fakturze, brak śledzenia przesyłek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programu lojalnościowego, niewygodny panel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411480" y="4800600"/>
            <a:ext cx="11338560" cy="1691640"/>
          </a:xfrm>
          <a:prstGeom prst="rect">
            <a:avLst/>
          </a:prstGeom>
          <a:solidFill>
            <a:srgbClr val="174769"/>
          </a:solidFill>
          <a:ln w="12700">
            <a:solidFill>
              <a:srgbClr val="174769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85800" y="4937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A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LEARNINGI NA FY27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685800" y="5422392"/>
            <a:ext cx="384048" cy="384048"/>
          </a:xfrm>
          <a:prstGeom prst="ellipse">
            <a:avLst/>
          </a:prstGeom>
          <a:solidFill>
            <a:srgbClr val="F8AF2D"/>
          </a:solidFill>
          <a:ln w="12700">
            <a:solidFill>
              <a:srgbClr val="F8AF2D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5422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27" name="Text 21"/>
          <p:cNvSpPr txBox="1"/>
          <p:nvPr/>
        </p:nvSpPr>
        <p:spPr>
          <a:xfrm>
            <a:off x="1161288" y="5330952"/>
            <a:ext cx="212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Kampania B2B i budżet mediowy, nie tylko pozyskanie przez PH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3447288" y="5422392"/>
            <a:ext cx="384048" cy="384048"/>
          </a:xfrm>
          <a:prstGeom prst="ellipse">
            <a:avLst/>
          </a:prstGeom>
          <a:solidFill>
            <a:srgbClr val="F8AF2D"/>
          </a:solidFill>
          <a:ln w="12700">
            <a:solidFill>
              <a:srgbClr val="F8AF2D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3447288" y="5422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3922776" y="5330952"/>
            <a:ext cx="212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partnerski: punkty za zgody marketingowe i częstsze zamówienia</a:t>
            </a:r>
            <a:endParaRPr lang="en-US" sz="1250" dirty="0"/>
          </a:p>
        </p:txBody>
      </p:sp>
      <p:sp>
        <p:nvSpPr>
          <p:cNvPr id="31" name="Shape 25"/>
          <p:cNvSpPr/>
          <p:nvPr/>
        </p:nvSpPr>
        <p:spPr>
          <a:xfrm>
            <a:off x="6208776" y="5422392"/>
            <a:ext cx="384048" cy="384048"/>
          </a:xfrm>
          <a:prstGeom prst="ellipse">
            <a:avLst/>
          </a:prstGeom>
          <a:solidFill>
            <a:srgbClr val="F8AF2D"/>
          </a:solidFill>
          <a:ln w="12700">
            <a:solidFill>
              <a:srgbClr val="F8AF2D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6208776" y="5422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6684264" y="5330952"/>
            <a:ext cx="212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Prostszy panel + codzienny import z Sage: kwoty jak na fakturze, nr listu przewozowego</a:t>
            </a:r>
            <a:endParaRPr lang="en-US" sz="1250" dirty="0"/>
          </a:p>
        </p:txBody>
      </p:sp>
      <p:sp>
        <p:nvSpPr>
          <p:cNvPr id="34" name="Shape 28"/>
          <p:cNvSpPr/>
          <p:nvPr/>
        </p:nvSpPr>
        <p:spPr>
          <a:xfrm>
            <a:off x="8970264" y="5422392"/>
            <a:ext cx="384048" cy="384048"/>
          </a:xfrm>
          <a:prstGeom prst="ellipse">
            <a:avLst/>
          </a:prstGeom>
          <a:solidFill>
            <a:srgbClr val="F8AF2D"/>
          </a:solidFill>
          <a:ln w="12700">
            <a:solidFill>
              <a:srgbClr val="F8AF2D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8970264" y="5422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0"/>
          <p:cNvSpPr txBox="1"/>
          <p:nvPr/>
        </p:nvSpPr>
        <p:spPr>
          <a:xfrm>
            <a:off x="9445752" y="5330952"/>
            <a:ext cx="212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Liczymy konta, które zamawiają, i częstotliwość, nie rejestracje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08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PL – WYNIK I START FY27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11430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Wynik FY26 vs budżet · stan na 25.08.2026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164592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396 757 €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215798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Sprzedaż netto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0" y="1901952"/>
            <a:ext cx="2743200" cy="237744"/>
          </a:xfrm>
          <a:prstGeom prst="roundRect">
            <a:avLst>
              <a:gd name="adj" fmla="val 50000"/>
            </a:avLst>
          </a:prstGeom>
          <a:solidFill>
            <a:srgbClr val="E3ECEC"/>
          </a:solidFill>
          <a:ln w="12700">
            <a:solidFill>
              <a:srgbClr val="E3EC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0" y="1901952"/>
            <a:ext cx="2345655" cy="237744"/>
          </a:xfrm>
          <a:prstGeom prst="roundRect">
            <a:avLst>
              <a:gd name="adj" fmla="val 50000"/>
            </a:avLst>
          </a:prstGeom>
          <a:solidFill>
            <a:srgbClr val="0E8B95"/>
          </a:solidFill>
          <a:ln w="12700">
            <a:solidFill>
              <a:srgbClr val="0E8B9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35040" y="182880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8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200400" y="21762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budżet 464 000 € · 105% planu do dziś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11480" y="256032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 / 174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11480" y="307238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Klienci z zamówieniem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0" y="2816352"/>
            <a:ext cx="2743200" cy="237744"/>
          </a:xfrm>
          <a:prstGeom prst="roundRect">
            <a:avLst>
              <a:gd name="adj" fmla="val 50000"/>
            </a:avLst>
          </a:prstGeom>
          <a:solidFill>
            <a:srgbClr val="E3ECEC"/>
          </a:solidFill>
          <a:ln w="12700">
            <a:solidFill>
              <a:srgbClr val="E3EC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2816352"/>
            <a:ext cx="2002221" cy="237744"/>
          </a:xfrm>
          <a:prstGeom prst="roundRect">
            <a:avLst>
              <a:gd name="adj" fmla="val 50000"/>
            </a:avLst>
          </a:prstGeom>
          <a:solidFill>
            <a:srgbClr val="0E8B95"/>
          </a:solidFill>
          <a:ln w="12700">
            <a:solidFill>
              <a:srgbClr val="0E8B9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35040" y="274320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8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73%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200400" y="30906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kont bez zamówienia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11480" y="347472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308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411480" y="398678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Zamówienia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200400" y="3730752"/>
            <a:ext cx="2743200" cy="237744"/>
          </a:xfrm>
          <a:prstGeom prst="roundRect">
            <a:avLst>
              <a:gd name="adj" fmla="val 50000"/>
            </a:avLst>
          </a:prstGeom>
          <a:solidFill>
            <a:srgbClr val="E3ECEC"/>
          </a:solidFill>
          <a:ln w="12700">
            <a:solidFill>
              <a:srgbClr val="E3EC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3730752"/>
            <a:ext cx="910459" cy="23774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35040" y="365760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200400" y="40050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budżet 928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11480" y="438912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1 288 €</a:t>
            </a:r>
            <a:endParaRPr lang="en-US" sz="2800" dirty="0"/>
          </a:p>
        </p:txBody>
      </p:sp>
      <p:sp>
        <p:nvSpPr>
          <p:cNvPr id="23" name="Text 21"/>
          <p:cNvSpPr txBox="1"/>
          <p:nvPr/>
        </p:nvSpPr>
        <p:spPr>
          <a:xfrm>
            <a:off x="411480" y="490118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Średnia wartość zamówienia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00400" y="4645152"/>
            <a:ext cx="2743200" cy="237744"/>
          </a:xfrm>
          <a:prstGeom prst="roundRect">
            <a:avLst>
              <a:gd name="adj" fmla="val 50000"/>
            </a:avLst>
          </a:prstGeom>
          <a:solidFill>
            <a:srgbClr val="E3ECEC"/>
          </a:solidFill>
          <a:ln w="12700">
            <a:solidFill>
              <a:srgbClr val="E3EC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4645152"/>
            <a:ext cx="2743200" cy="237744"/>
          </a:xfrm>
          <a:prstGeom prst="roundRect">
            <a:avLst>
              <a:gd name="adj" fmla="val 50000"/>
            </a:avLst>
          </a:prstGeom>
          <a:solidFill>
            <a:srgbClr val="F8AF2D"/>
          </a:solidFill>
          <a:ln w="12700">
            <a:solidFill>
              <a:srgbClr val="F8AF2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035040" y="457200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258%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3200400" y="49194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500 € (2,6×)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11480" y="5440680"/>
            <a:ext cx="6355080" cy="777240"/>
          </a:xfrm>
          <a:prstGeom prst="rect">
            <a:avLst/>
          </a:prstGeom>
          <a:solidFill>
            <a:srgbClr val="DAEBEA"/>
          </a:solidFill>
          <a:ln w="12700">
            <a:solidFill>
              <a:srgbClr val="00676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94360" y="544068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 FY27:  </a:t>
            </a:r>
            <a:pPr indent="0" marL="0">
              <a:buNone/>
            </a:pPr>
            <a:r>
              <a:rPr lang="en-US" sz="13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 tys. € · 1 125 zamówień · średnio 800 € · 350 nowych sklepów · 95% bazy aktywnej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086600" y="1143000"/>
            <a:ext cx="4663440" cy="5074920"/>
          </a:xfrm>
          <a:prstGeom prst="rect">
            <a:avLst/>
          </a:prstGeom>
          <a:solidFill>
            <a:srgbClr val="174769"/>
          </a:solidFill>
          <a:ln w="12700">
            <a:solidFill>
              <a:srgbClr val="17476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60920" y="13441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A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NOWA PLATFORMA B2B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7360920" y="17099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1.10.2026 · stary panel sbm-partners.com działa równolegle do 30.10</a:t>
            </a:r>
            <a:endParaRPr lang="en-US" sz="1200" dirty="0"/>
          </a:p>
        </p:txBody>
      </p:sp>
      <p:pic>
        <p:nvPicPr>
          <p:cNvPr id="3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2359152"/>
            <a:ext cx="237744" cy="237744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7726680" y="23317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Ceny netto z rabatem klienta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D5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kwota w koszyku = kwota na fakturze</a:t>
            </a:r>
            <a:endParaRPr lang="en-US" sz="1400" dirty="0"/>
          </a:p>
        </p:txBody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3108960"/>
            <a:ext cx="237744" cy="237744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7726680" y="3081528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Kredyt kupiecki z limitem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D5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 płatności w koszyku: krótszy = taniej</a:t>
            </a:r>
            <a:endParaRPr lang="en-US" sz="1400" dirty="0"/>
          </a:p>
        </p:txBody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0920" y="3858768"/>
            <a:ext cx="237744" cy="237744"/>
          </a:xfrm>
          <a:prstGeom prst="rect">
            <a:avLst/>
          </a:prstGeom>
        </p:spPr>
      </p:pic>
      <p:sp>
        <p:nvSpPr>
          <p:cNvPr id="38" name="Text 33"/>
          <p:cNvSpPr txBox="1"/>
          <p:nvPr/>
        </p:nvSpPr>
        <p:spPr>
          <a:xfrm>
            <a:off x="7726680" y="3831336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Zamówienie w 4 krokach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D5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katalog, ilość, płatność, data; także na telefonie</a:t>
            </a:r>
            <a:endParaRPr lang="en-US" sz="1400" dirty="0"/>
          </a:p>
        </p:txBody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0920" y="4608576"/>
            <a:ext cx="237744" cy="237744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7726680" y="4581144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Automatyczne maile do klienta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D5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aktywacja konta, 1. zamówienie, potwierdzenia</a:t>
            </a:r>
            <a:endParaRPr lang="en-US" sz="1400" dirty="0"/>
          </a:p>
        </p:txBody>
      </p:sp>
      <p:pic>
        <p:nvPicPr>
          <p:cNvPr id="4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920" y="5358384"/>
            <a:ext cx="237744" cy="237744"/>
          </a:xfrm>
          <a:prstGeom prst="rect">
            <a:avLst/>
          </a:prstGeom>
        </p:spPr>
      </p:pic>
      <p:sp>
        <p:nvSpPr>
          <p:cNvPr id="42" name="Text 35"/>
          <p:cNvSpPr txBox="1"/>
          <p:nvPr/>
        </p:nvSpPr>
        <p:spPr>
          <a:xfrm>
            <a:off x="7726680" y="5330952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partnerski od 1.10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D5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wersja ręczna, silnik i integracja w Q4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411480" y="6355080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Dane: raport KPI B2B z 25.08.2026 (Sage ZORDDET, WEB-B2B, narastająco). 59% powrotów: Sage ZORDDET 16.03–22.07.2026.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B2B PL – kick off FY27</dc:title>
  <dc:subject>PptxGenJS Presentation</dc:subject>
  <dc:creator>PptxGenJS</dc:creator>
  <cp:lastModifiedBy>PptxGenJS</cp:lastModifiedBy>
  <cp:revision>1</cp:revision>
  <dcterms:created xsi:type="dcterms:W3CDTF">2026-09-25T09:46:27Z</dcterms:created>
  <dcterms:modified xsi:type="dcterms:W3CDTF">2026-09-25T09:46:27Z</dcterms:modified>
</cp:coreProperties>
</file>